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Multi-Accent Speech-to-Text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Whisper-based plan for an Automobile Diagnostic Center</a:t>
            </a:r>
          </a:p>
          <a:p>
            <a:r>
              <a:t>Standard + Spanish-accented + Canadian English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&amp; Goals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Transcribe conversational audio in 3 English variants: Standard, Spanish-accented, Canadian</a:t>
            </a:r>
          </a:p>
          <a:p>
            <a:pPr/>
            <a:r>
              <a:t>Domain: automobile diagnostic center (jargon: OBD-II, P0420, VIN, etc.)</a:t>
            </a:r>
          </a:p>
          <a:p>
            <a:pPr/>
            <a:r>
              <a:t>Outputs required: text + Speaker 1/2 labels + timestamps + punctuation</a:t>
            </a:r>
          </a:p>
          <a:p>
            <a:pPr/>
            <a:r>
              <a:t>Latency: batch / near-real-time (30-60 s lag acceptable)</a:t>
            </a:r>
          </a:p>
          <a:p>
            <a:pPr/>
            <a:r>
              <a:t>Privacy: self-hosted preferred; consent + encryption + retention policy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Whisper (open source)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Trained on 680k hrs incl. heavily accented English -&gt; strong accent coverage</a:t>
            </a:r>
          </a:p>
          <a:p>
            <a:pPr/>
            <a:r>
              <a:t>MIT license, free, fully self-hostable -&gt; privacy preserved</a:t>
            </a:r>
          </a:p>
          <a:p>
            <a:pPr/>
            <a:r>
              <a:t>Built-in punctuation; word timestamps via WhisperX forced alignment</a:t>
            </a:r>
          </a:p>
          <a:p>
            <a:pPr/>
            <a:r>
              <a:t>Pairs cleanly with pyannote for diarization (Speaker 1 / Speaker 2)</a:t>
            </a:r>
          </a:p>
          <a:p>
            <a:pPr/>
            <a:r>
              <a:t>Comparable accuracy to Deepgram Nova-3 on clean audio</a:t>
            </a:r>
          </a:p>
          <a:p>
            <a:pPr/>
            <a:r>
              <a:t>Trade-off: not native real-time -&gt; fits because we relaxed latency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/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05840"/>
            <a:ext cx="1143000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latin typeface="Consolas"/>
              </a:rPr>
              <a:t>+-------------------- Diagnostic Center Site --------------------+</a:t>
            </a:r>
          </a:p>
          <a:p>
            <a:r>
              <a:rPr sz="1100">
                <a:latin typeface="Consolas"/>
              </a:rPr>
              <a:t>|  Mic/Headset --&gt; Capture App --&gt; Local WAV (16 kHz mono)       |</a:t>
            </a:r>
          </a:p>
          <a:p>
            <a:r>
              <a:rPr sz="1100">
                <a:latin typeface="Consolas"/>
              </a:rPr>
              <a:t>|       ^                                                        |</a:t>
            </a:r>
          </a:p>
          <a:p>
            <a:r>
              <a:rPr sz="1100">
                <a:latin typeface="Consolas"/>
              </a:rPr>
              <a:t>|  Consent + Session Metadata (bay, technician, customer)        |</a:t>
            </a:r>
          </a:p>
          <a:p>
            <a:r>
              <a:rPr sz="1100">
                <a:latin typeface="Consolas"/>
              </a:rPr>
              <a:t>+----------------------------+-----------------------------------+</a:t>
            </a:r>
          </a:p>
          <a:p>
            <a:r>
              <a:rPr sz="1100">
                <a:latin typeface="Consolas"/>
              </a:rPr>
              <a:t>                             | HTTPS resumable upload</a:t>
            </a:r>
          </a:p>
          <a:p>
            <a:r>
              <a:rPr sz="1100">
                <a:latin typeface="Consolas"/>
              </a:rPr>
              <a:t>                             v</a:t>
            </a:r>
          </a:p>
          <a:p>
            <a:r>
              <a:rPr sz="1100">
                <a:latin typeface="Consolas"/>
              </a:rPr>
              <a:t>+-------------- ASR Backend (self-hosted, GPU) ------------------+</a:t>
            </a:r>
          </a:p>
          <a:p>
            <a:r>
              <a:rPr sz="1100">
                <a:latin typeface="Consolas"/>
              </a:rPr>
              <a:t>|                                                                |</a:t>
            </a:r>
          </a:p>
          <a:p>
            <a:r>
              <a:rPr sz="1100">
                <a:latin typeface="Consolas"/>
              </a:rPr>
              <a:t>|  FastAPI Gateway  --&gt;  Redis / RQ Queue                        |</a:t>
            </a:r>
          </a:p>
          <a:p>
            <a:r>
              <a:rPr sz="1100">
                <a:latin typeface="Consolas"/>
              </a:rPr>
              <a:t>|        ^                       |                               |</a:t>
            </a:r>
          </a:p>
          <a:p>
            <a:r>
              <a:rPr sz="1100">
                <a:latin typeface="Consolas"/>
              </a:rPr>
              <a:t>|        |                       v                               |</a:t>
            </a:r>
          </a:p>
          <a:p>
            <a:r>
              <a:rPr sz="1100">
                <a:latin typeface="Consolas"/>
              </a:rPr>
              <a:t>|        |          +------- GPU Worker Pool -------+            |</a:t>
            </a:r>
          </a:p>
          <a:p>
            <a:r>
              <a:rPr sz="1100">
                <a:latin typeface="Consolas"/>
              </a:rPr>
              <a:t>|        |          | 1. Preprocess (ffmpeg+VAD)   |             |</a:t>
            </a:r>
          </a:p>
          <a:p>
            <a:r>
              <a:rPr sz="1100">
                <a:latin typeface="Consolas"/>
              </a:rPr>
              <a:t>|        |          | 2. ASR: faster-whisper v3    |             |</a:t>
            </a:r>
          </a:p>
          <a:p>
            <a:r>
              <a:rPr sz="1100">
                <a:latin typeface="Consolas"/>
              </a:rPr>
              <a:t>|        |          |    + initial_prompt (vocab)  |             |</a:t>
            </a:r>
          </a:p>
          <a:p>
            <a:r>
              <a:rPr sz="1100">
                <a:latin typeface="Consolas"/>
              </a:rPr>
              <a:t>|        |          | 3. Align: WhisperX wav2vec2  |             |</a:t>
            </a:r>
          </a:p>
          <a:p>
            <a:r>
              <a:rPr sz="1100">
                <a:latin typeface="Consolas"/>
              </a:rPr>
              <a:t>|        |          | 4. Diarize: pyannote 3.1     |             |</a:t>
            </a:r>
          </a:p>
          <a:p>
            <a:r>
              <a:rPr sz="1100">
                <a:latin typeface="Consolas"/>
              </a:rPr>
              <a:t>|        |          | 5. Merge speakers + post-fix |             |</a:t>
            </a:r>
          </a:p>
          <a:p>
            <a:r>
              <a:rPr sz="1100">
                <a:latin typeface="Consolas"/>
              </a:rPr>
              <a:t>|        |          +--------------+---------------+             |</a:t>
            </a:r>
          </a:p>
          <a:p>
            <a:r>
              <a:rPr sz="1100">
                <a:latin typeface="Consolas"/>
              </a:rPr>
              <a:t>|        |                         v                             |</a:t>
            </a:r>
          </a:p>
          <a:p>
            <a:r>
              <a:rPr sz="1100">
                <a:latin typeface="Consolas"/>
              </a:rPr>
              <a:t>|        +---- Postgres (transcripts) + S3/MinIO (audio) ----    |</a:t>
            </a:r>
          </a:p>
          <a:p>
            <a:r>
              <a:rPr sz="1100">
                <a:latin typeface="Consolas"/>
              </a:rPr>
              <a:t>+--------------------------------+-------------------------------+</a:t>
            </a:r>
          </a:p>
          <a:p>
            <a:r>
              <a:rPr sz="1100">
                <a:latin typeface="Consolas"/>
              </a:rPr>
              <a:t>                                 v</a:t>
            </a:r>
          </a:p>
          <a:p>
            <a:r>
              <a:rPr sz="1100">
                <a:latin typeface="Consolas"/>
              </a:rPr>
              <a:t>                  Web UI: speaker bubbles, search,</a:t>
            </a:r>
          </a:p>
          <a:p>
            <a:r>
              <a:rPr sz="1100">
                <a:latin typeface="Consolas"/>
              </a:rPr>
              <a:t>                  click-to-seek, export SRT/JSON/PDF</a:t>
            </a:r>
          </a:p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GPU Worker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Preprocess: ffmpeg resample to 16 kHz mono + Silero VAD (strip silence)</a:t>
            </a:r>
          </a:p>
          <a:p>
            <a:pPr/>
            <a:r>
              <a:t>2. ASR: faster-whisper large-v3 + initial_prompt with automotive vocab</a:t>
            </a:r>
          </a:p>
          <a:p>
            <a:pPr/>
            <a:r>
              <a:t>3. Align: WhisperX (wav2vec2) -&gt; accurate per-word timestamps</a:t>
            </a:r>
          </a:p>
          <a:p>
            <a:pPr/>
            <a:r>
              <a:t>4. Diarize: pyannote.audio 3.1 (min/max speakers = 2)</a:t>
            </a:r>
          </a:p>
          <a:p>
            <a:pPr/>
            <a:r>
              <a:t>5. Merge: assign speaker per word by max overlap, apply jargon regex / optional LLM cleanup</a:t>
            </a:r>
          </a:p>
          <a:p>
            <a:pPr/>
            <a:r>
              <a:t>Output: JSON with segments [{start, end, speaker, text, words[]}]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/>
              <a:t>Technology Stack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1124712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3657600"/>
                <a:gridCol w="5760720"/>
              </a:tblGrid>
              <a:tr h="407963"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Layer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Tech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Why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407963">
                <a:tc>
                  <a:txBody>
                    <a:bodyPr/>
                    <a:lstStyle/>
                    <a:p>
                      <a:r>
                        <a:rPr sz="1100"/>
                        <a:t>Capture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Electron desktop / mobile PWA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Cross-platform mic + consent UI</a:t>
                      </a:r>
                    </a:p>
                  </a:txBody>
                  <a:tcPr/>
                </a:tc>
              </a:tr>
              <a:tr h="407963">
                <a:tc>
                  <a:txBody>
                    <a:bodyPr/>
                    <a:lstStyle/>
                    <a:p>
                      <a:r>
                        <a:rPr sz="1100"/>
                        <a:t>Audio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16 kHz mono WAV / FLAC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Whisper's native rate</a:t>
                      </a:r>
                    </a:p>
                  </a:txBody>
                  <a:tcPr/>
                </a:tc>
              </a:tr>
              <a:tr h="407963">
                <a:tc>
                  <a:txBody>
                    <a:bodyPr/>
                    <a:lstStyle/>
                    <a:p>
                      <a:r>
                        <a:rPr sz="1100"/>
                        <a:t>Upload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Pre-signed S3 / MinIO 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Resumable, decoupled</a:t>
                      </a:r>
                    </a:p>
                  </a:txBody>
                  <a:tcPr/>
                </a:tc>
              </a:tr>
              <a:tr h="407963">
                <a:tc>
                  <a:txBody>
                    <a:bodyPr/>
                    <a:lstStyle/>
                    <a:p>
                      <a:r>
                        <a:rPr sz="1100"/>
                        <a:t>Queue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Redis + RQ (or Celery)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Simple, reliable, GPU-friendly</a:t>
                      </a:r>
                    </a:p>
                  </a:txBody>
                  <a:tcPr/>
                </a:tc>
              </a:tr>
              <a:tr h="407963">
                <a:tc>
                  <a:txBody>
                    <a:bodyPr/>
                    <a:lstStyle/>
                    <a:p>
                      <a:r>
                        <a:rPr sz="1100"/>
                        <a:t>ASR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faster-whisper large-v3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4x faster than openai-whisper</a:t>
                      </a:r>
                    </a:p>
                  </a:txBody>
                  <a:tcPr/>
                </a:tc>
              </a:tr>
              <a:tr h="407963">
                <a:tc>
                  <a:txBody>
                    <a:bodyPr/>
                    <a:lstStyle/>
                    <a:p>
                      <a:r>
                        <a:rPr sz="1100"/>
                        <a:t>Alignment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WhisperX (wav2vec2)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Accurate word timestamps</a:t>
                      </a:r>
                    </a:p>
                  </a:txBody>
                  <a:tcPr/>
                </a:tc>
              </a:tr>
              <a:tr h="407963">
                <a:tc>
                  <a:txBody>
                    <a:bodyPr/>
                    <a:lstStyle/>
                    <a:p>
                      <a:r>
                        <a:rPr sz="1100"/>
                        <a:t>VAD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Silero VAD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Removes silence, cleaner diarization</a:t>
                      </a:r>
                    </a:p>
                  </a:txBody>
                  <a:tcPr/>
                </a:tc>
              </a:tr>
              <a:tr h="407963">
                <a:tc>
                  <a:txBody>
                    <a:bodyPr/>
                    <a:lstStyle/>
                    <a:p>
                      <a:r>
                        <a:rPr sz="1100"/>
                        <a:t>Diarization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pyannote.audio 3.1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SOTA open diarization</a:t>
                      </a:r>
                    </a:p>
                  </a:txBody>
                  <a:tcPr/>
                </a:tc>
              </a:tr>
              <a:tr h="407963">
                <a:tc>
                  <a:txBody>
                    <a:bodyPr/>
                    <a:lstStyle/>
                    <a:p>
                      <a:r>
                        <a:rPr sz="1100"/>
                        <a:t>Storage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Postgres + S3/MinIO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Text vs. blob split</a:t>
                      </a:r>
                    </a:p>
                  </a:txBody>
                  <a:tcPr/>
                </a:tc>
              </a:tr>
              <a:tr h="407963">
                <a:tc>
                  <a:txBody>
                    <a:bodyPr/>
                    <a:lstStyle/>
                    <a:p>
                      <a:r>
                        <a:rPr sz="1100"/>
                        <a:t>API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FastAPI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Async, easy job endpoints</a:t>
                      </a:r>
                    </a:p>
                  </a:txBody>
                  <a:tcPr/>
                </a:tc>
              </a:tr>
              <a:tr h="407963">
                <a:tc>
                  <a:txBody>
                    <a:bodyPr/>
                    <a:lstStyle/>
                    <a:p>
                      <a:r>
                        <a:rPr sz="1100"/>
                        <a:t>Deploy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Docker Compose (v1), K8s later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Start simple</a:t>
                      </a:r>
                    </a:p>
                  </a:txBody>
                  <a:tcPr/>
                </a:tc>
              </a:tr>
              <a:tr h="407964">
                <a:tc>
                  <a:txBody>
                    <a:bodyPr/>
                    <a:lstStyle/>
                    <a:p>
                      <a:r>
                        <a:rPr sz="1100"/>
                        <a:t>GPU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1x RTX 4090 / cloud L4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~$0.40-$1/hr cloud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/>
              <a:t>Phased Delivery Plan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1124712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2286000"/>
                <a:gridCol w="7132320"/>
                <a:gridCol w="1371600"/>
              </a:tblGrid>
              <a:tr h="530352"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#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Phase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Description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Effort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r>
                        <a:rPr sz="11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GPU + base infra setup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Provision GPU (RTX 4090 / cloud L4), CUDA + Docker + nvidia-container-toolkit, HF token with pyannote license accepted, FastAPI + Postgres + Redis via docker-compose.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2 days</a:t>
                      </a:r>
                    </a:p>
                  </a:txBody>
                  <a:tcPr/>
                </a:tc>
              </a:tr>
              <a:tr h="530352">
                <a:tc>
                  <a:txBody>
                    <a:bodyPr/>
                    <a:lstStyle/>
                    <a:p>
                      <a:r>
                        <a:rPr sz="11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Whisper ASR 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faster-whisper large-v3 worker, Silero VAD preprocessing, WhisperX forced alignment for word timestamps, /jobs API (submit/status/result), CLI transcribe.py.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3-4 days</a:t>
                      </a:r>
                    </a:p>
                  </a:txBody>
                  <a:tcPr/>
                </a:tc>
              </a:tr>
              <a:tr h="530352">
                <a:tc>
                  <a:txBody>
                    <a:bodyPr/>
                    <a:lstStyle/>
                    <a:p>
                      <a:r>
                        <a:rPr sz="110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Evaluation harness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Collect ~30 min/accent (Standard, Spanish-accented, Canadian) with consent + ground truth; eval.py computing WER per accent + jargon recall. Acceptance: WER &lt; 15%/accent.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2-3 days</a:t>
                      </a:r>
                    </a:p>
                  </a:txBody>
                  <a:tcPr/>
                </a:tc>
              </a:tr>
              <a:tr h="530352">
                <a:tc>
                  <a:txBody>
                    <a:bodyPr/>
                    <a:lstStyle/>
                    <a:p>
                      <a:r>
                        <a:rPr sz="110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Automotive domain tuning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Vocabulary list as Whisper initial_prompt (&lt;=224 tokens); regex post-processing (e.g. 'P zero four two zero' -&gt; 'P0420'); optional LLM cleanup pass.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2-3 days</a:t>
                      </a:r>
                    </a:p>
                  </a:txBody>
                  <a:tcPr/>
                </a:tc>
              </a:tr>
              <a:tr h="530352">
                <a:tc>
                  <a:txBody>
                    <a:bodyPr/>
                    <a:lstStyle/>
                    <a:p>
                      <a:r>
                        <a:rPr sz="110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Diarization (pyannote)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pyannote 3.1 with min/max speakers=2; merge step assigning speaker per word by max-overlap; SPEAKER_00/01 -&gt; Technician/Customer relabel. Acceptance: DER &lt; 15%.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3-5 days</a:t>
                      </a:r>
                    </a:p>
                  </a:txBody>
                  <a:tcPr/>
                </a:tc>
              </a:tr>
              <a:tr h="530352">
                <a:tc>
                  <a:txBody>
                    <a:bodyPr/>
                    <a:lstStyle/>
                    <a:p>
                      <a:r>
                        <a:rPr sz="110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Capture app + Web UI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Electron/PWA recorder with consent + metadata, resumable upload, web UI with speaker bubbles, click-to-seek, search, export TXT/SRT/JSON/PDF.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~1 week</a:t>
                      </a:r>
                    </a:p>
                  </a:txBody>
                  <a:tcPr/>
                </a:tc>
              </a:tr>
              <a:tr h="530352">
                <a:tc>
                  <a:txBody>
                    <a:bodyPr/>
                    <a:lstStyle/>
                    <a:p>
                      <a:r>
                        <a:rPr sz="110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Production hardening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OIDC auth, audit logging, at-rest encryption, retention policy, GPU/queue/latency monitoring, backup runbook.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~1 week</a:t>
                      </a:r>
                    </a:p>
                  </a:txBody>
                  <a:tcPr/>
                </a:tc>
              </a:tr>
              <a:tr h="530352">
                <a:tc>
                  <a:txBody>
                    <a:bodyPr/>
                    <a:lstStyle/>
                    <a:p>
                      <a:r>
                        <a:rPr sz="110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1-bay pilot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Deploy in one service bay for 2 weeks; daily WER spot-checks; technician feedback loop; iterate vocabulary + relabel UX.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2 weeks</a:t>
                      </a:r>
                    </a:p>
                  </a:txBody>
                  <a:tcPr/>
                </a:tc>
              </a:tr>
              <a:tr h="530352">
                <a:tc>
                  <a:txBody>
                    <a:bodyPr/>
                    <a:lstStyle/>
                    <a:p>
                      <a:r>
                        <a:rPr sz="110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Extensions (later)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Near-real-time chunked mode (30 s windows), speaker enrollment, topic/intent tagging, auto-draft work-orders via LLM, multilingual (Spanish-only) mode.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later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Timeline (indicative)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Week 1: Phase 0 (infra) + start Phase 1 (ASR core)</a:t>
            </a:r>
          </a:p>
          <a:p>
            <a:pPr/>
            <a:r>
              <a:t>Week 2: Phase 1 complete + Phase 2 (eval harness, collect accent data)</a:t>
            </a:r>
          </a:p>
          <a:p>
            <a:pPr/>
            <a:r>
              <a:t>Week 3: Phase 3 (domain vocab tuning) + Phase 4 (diarization)</a:t>
            </a:r>
          </a:p>
          <a:p>
            <a:pPr/>
            <a:r>
              <a:t>Week 4-5: Phase 5 (capture + web UI)</a:t>
            </a:r>
          </a:p>
          <a:p>
            <a:pPr/>
            <a:r>
              <a:t>Week 6: Phase 6 (auth, encryption, monitoring)</a:t>
            </a:r>
          </a:p>
          <a:p>
            <a:pPr/>
            <a:r>
              <a:t>Weeks 7-8: Phase 7 (pilot in 1 service bay)</a:t>
            </a:r>
          </a:p>
          <a:p>
            <a:pPr/>
            <a:r>
              <a:t>Then: Phase 8 extensions based on pilot feedback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/>
              <a:t>Risk Register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1124712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760720"/>
              </a:tblGrid>
              <a:tr h="757645"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Risk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Mitigation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757645">
                <a:tc>
                  <a:txBody>
                    <a:bodyPr/>
                    <a:lstStyle/>
                    <a:p>
                      <a:r>
                        <a:rPr sz="1100"/>
                        <a:t>Noisy shop floor (impact wrenches, compressors)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Headset mics; RNNoise/DeepFilterNet preprocessing</a:t>
                      </a:r>
                    </a:p>
                  </a:txBody>
                  <a:tcPr/>
                </a:tc>
              </a:tr>
              <a:tr h="757645">
                <a:tc>
                  <a:txBody>
                    <a:bodyPr/>
                    <a:lstStyle/>
                    <a:p>
                      <a:r>
                        <a:rPr sz="1100"/>
                        <a:t>Heavy accent + jargon -&gt; low WER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Domain initial_prompt; LoRA fine-tune later if needed</a:t>
                      </a:r>
                    </a:p>
                  </a:txBody>
                  <a:tcPr/>
                </a:tc>
              </a:tr>
              <a:tr h="757645">
                <a:tc>
                  <a:txBody>
                    <a:bodyPr/>
                    <a:lstStyle/>
                    <a:p>
                      <a:r>
                        <a:rPr sz="1100"/>
                        <a:t>Diarization confuses overlapping speech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pyannote overlap-aware; force 2 speakers</a:t>
                      </a:r>
                    </a:p>
                  </a:txBody>
                  <a:tcPr/>
                </a:tc>
              </a:tr>
              <a:tr h="757645">
                <a:tc>
                  <a:txBody>
                    <a:bodyPr/>
                    <a:lstStyle/>
                    <a:p>
                      <a:r>
                        <a:rPr sz="1100"/>
                        <a:t>GPU outage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Queue retries; fallback CPU worker for low-priority</a:t>
                      </a:r>
                    </a:p>
                  </a:txBody>
                  <a:tcPr/>
                </a:tc>
              </a:tr>
              <a:tr h="757645">
                <a:tc>
                  <a:txBody>
                    <a:bodyPr/>
                    <a:lstStyle/>
                    <a:p>
                      <a:r>
                        <a:rPr sz="1100"/>
                        <a:t>Privacy / consent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In-app consent; on-prem; encryption; retention policy</a:t>
                      </a:r>
                    </a:p>
                  </a:txBody>
                  <a:tcPr/>
                </a:tc>
              </a:tr>
              <a:tr h="757650">
                <a:tc>
                  <a:txBody>
                    <a:bodyPr/>
                    <a:lstStyle/>
                    <a:p>
                      <a:r>
                        <a:rPr sz="1100"/>
                        <a:t>pyannote commercial license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Free with HF token + acceptance; paid tier for SLA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/>
              <a:t>Cost Estimate (per bay, ~6 hrs audio/day)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1124712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0"/>
                <a:gridCol w="3931920"/>
              </a:tblGrid>
              <a:tr h="883920"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Item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Monthly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883920">
                <a:tc>
                  <a:txBody>
                    <a:bodyPr/>
                    <a:lstStyle/>
                    <a:p>
                      <a:r>
                        <a:rPr sz="1100"/>
                        <a:t>Cloud GPU L4 (8 hrs/day @ $0.50/hr)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~$120</a:t>
                      </a:r>
                    </a:p>
                  </a:txBody>
                  <a:tcPr/>
                </a:tc>
              </a:tr>
              <a:tr h="883920">
                <a:tc>
                  <a:txBody>
                    <a:bodyPr/>
                    <a:lstStyle/>
                    <a:p>
                      <a:r>
                        <a:rPr sz="1100"/>
                        <a:t>or on-prem RTX 4090 amortized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~$50</a:t>
                      </a:r>
                    </a:p>
                  </a:txBody>
                  <a:tcPr/>
                </a:tc>
              </a:tr>
              <a:tr h="883920">
                <a:tc>
                  <a:txBody>
                    <a:bodyPr/>
                    <a:lstStyle/>
                    <a:p>
                      <a:r>
                        <a:rPr sz="1100"/>
                        <a:t>Storage (Postgres + 200 GB audio)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~$15</a:t>
                      </a:r>
                    </a:p>
                  </a:txBody>
                  <a:tcPr/>
                </a:tc>
              </a:tr>
              <a:tr h="883920">
                <a:tc>
                  <a:txBody>
                    <a:bodyPr/>
                    <a:lstStyle/>
                    <a:p>
                      <a:r>
                        <a:rPr sz="1100"/>
                        <a:t>Misc (logging, backups)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~$10</a:t>
                      </a:r>
                    </a:p>
                  </a:txBody>
                  <a:tcPr/>
                </a:tc>
              </a:tr>
              <a:tr h="883920">
                <a:tc>
                  <a:txBody>
                    <a:bodyPr/>
                    <a:lstStyle/>
                    <a:p>
                      <a:r>
                        <a:rPr sz="1100"/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~$75 - $150 / bay / month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Success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WER &lt;= 10% per accent on eval set</a:t>
            </a:r>
          </a:p>
          <a:p>
            <a:pPr/>
            <a:r>
              <a:t>Jargon recall &gt;= 90%</a:t>
            </a:r>
          </a:p>
          <a:p>
            <a:pPr/>
            <a:r>
              <a:t>Diarization DER &lt;= 15%</a:t>
            </a:r>
          </a:p>
          <a:p>
            <a:pPr/>
            <a:r>
              <a:t>Time-to-transcript &lt;= 1x audio duration on GPU</a:t>
            </a:r>
          </a:p>
          <a:p>
            <a:pPr/>
            <a:r>
              <a:t>Technician satisfaction &gt;= 4/5 in pilot survey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Approve plan + budget for GPU (cloud L4 or on-prem RTX 4090)</a:t>
            </a:r>
          </a:p>
          <a:p>
            <a:pPr/>
            <a:r>
              <a:t>Collect ~30 min audio per accent (with consent) for eval set</a:t>
            </a:r>
          </a:p>
          <a:p>
            <a:pPr/>
            <a:r>
              <a:t>Kick off Phase 0 + Phase 1 (target: working CLI transcript in 1 week)</a:t>
            </a:r>
          </a:p>
          <a:p>
            <a:pPr/>
            <a:r>
              <a:t>Decide UI host: desktop Electron vs. browser PWA</a:t>
            </a:r>
          </a:p>
          <a:p>
            <a:pPr/>
            <a:r>
              <a:t>Identify pilot service bay + champion technician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